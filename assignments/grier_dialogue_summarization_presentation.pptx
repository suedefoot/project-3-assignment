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Dialogue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Transformer Architectures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77724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566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  +  GPT-2 Decoder  ·  SAMSum Dataset  ·  HuggingFace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53619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062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12848" y="4206240"/>
            <a:ext cx="153619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42062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77056" y="4206240"/>
            <a:ext cx="153619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3877056" y="42062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Training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41264" y="4206240"/>
            <a:ext cx="153619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5541264" y="42062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Evaluation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05472" y="4206240"/>
            <a:ext cx="1536192" cy="502920"/>
          </a:xfrm>
          <a:prstGeom prst="roundRect">
            <a:avLst>
              <a:gd name="adj" fmla="val 10909"/>
            </a:avLst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7205472" y="42062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Docs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41732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from multi-speaker chat conversations. Reading full dialogue threads is time-consuming and inefficient.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54864" cy="141732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8032" y="1463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reproducible ML proof of concept that condenses messenger-style dialogues into concise, accurate summaries.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06040"/>
            <a:ext cx="54864" cy="141732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715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Approach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30632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 captures bidirectional dialogue context; GPT-2 decoder generates fluent summaries via cross-attention.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606040"/>
            <a:ext cx="54864" cy="141732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715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28032" y="30632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SAMSum — 16,369 human-written messenger dialogues with gold-standard summaries, split across train / val / test.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196596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2245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" y="46085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4206240"/>
            <a:ext cx="196596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42245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GPT-2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514600" y="46085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206240"/>
            <a:ext cx="196596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245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BLEU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63440" y="46085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12280" y="4206240"/>
            <a:ext cx="196596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2245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812280" y="46085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834640" y="137160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34640" y="3794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SAMSum  ·  EDA  ·  Stratified Sampling  ·  Preprocessing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Exploration &amp; Preparation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SAMSum Splits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3291840" cy="96012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0" y="960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Features Computed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0" y="1316736"/>
            <a:ext cx="164592" cy="16459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5"/>
          <p:cNvSpPr/>
          <p:nvPr/>
        </p:nvSpPr>
        <p:spPr>
          <a:xfrm>
            <a:off x="4370832" y="12984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&amp; summary word counts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14800" y="1618488"/>
            <a:ext cx="164592" cy="16459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7"/>
          <p:cNvSpPr/>
          <p:nvPr/>
        </p:nvSpPr>
        <p:spPr>
          <a:xfrm>
            <a:off x="4370832" y="1600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ratio (summary ÷ dialogue words)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0" y="1920240"/>
            <a:ext cx="164592" cy="16459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9"/>
          <p:cNvSpPr/>
          <p:nvPr/>
        </p:nvSpPr>
        <p:spPr>
          <a:xfrm>
            <a:off x="4370832" y="1901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count &amp; conversation turn count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0" y="2221992"/>
            <a:ext cx="164592" cy="16459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1"/>
          <p:cNvSpPr/>
          <p:nvPr/>
        </p:nvSpPr>
        <p:spPr>
          <a:xfrm>
            <a:off x="4370832" y="220370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&amp; type-token ratio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0" y="2523744"/>
            <a:ext cx="164592" cy="16459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3"/>
          <p:cNvSpPr/>
          <p:nvPr/>
        </p:nvSpPr>
        <p:spPr>
          <a:xfrm>
            <a:off x="4370832" y="250545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Multi-speaker interaction patterns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114800" y="2825496"/>
            <a:ext cx="164592" cy="16459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5"/>
          <p:cNvSpPr/>
          <p:nvPr/>
        </p:nvSpPr>
        <p:spPr>
          <a:xfrm>
            <a:off x="4370832" y="28072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matrix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2487168"/>
            <a:ext cx="82296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2487168"/>
            <a:ext cx="54864" cy="1298448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257860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— Why It Matters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1792" y="292608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random sampling, the notebook stratifies by combined dialogue-length and summary-length bins. This preserves short, medium, and long examples — reducing sampling bias and improving confidence that results generalise beyond simple conversations.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3913632"/>
            <a:ext cx="260604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9319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4261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subset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46120" y="3913632"/>
            <a:ext cx="260604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4"/>
          <p:cNvSpPr/>
          <p:nvPr/>
        </p:nvSpPr>
        <p:spPr>
          <a:xfrm>
            <a:off x="3246120" y="39319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46120" y="4261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subset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35040" y="3913632"/>
            <a:ext cx="260604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7"/>
          <p:cNvSpPr/>
          <p:nvPr/>
        </p:nvSpPr>
        <p:spPr>
          <a:xfrm>
            <a:off x="6035040" y="39319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035040" y="4261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subset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834640" y="137160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34640" y="3794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  ·  GPT-2 Decoder  ·  Cross-Attention  ·  Seq2Seq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1417320" cy="8046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005840"/>
            <a:ext cx="1417320" cy="8046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005840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1005840"/>
            <a:ext cx="1417320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005840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1417320" cy="804672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05840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005840"/>
            <a:ext cx="1417320" cy="8046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005840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1403604"/>
            <a:ext cx="20116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0" y="1403604"/>
            <a:ext cx="20116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60720" y="1403604"/>
            <a:ext cx="20116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0" y="1403604"/>
            <a:ext cx="20116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" y="1993392"/>
            <a:ext cx="406908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993392"/>
            <a:ext cx="54864" cy="1389888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084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BERT Encoder  (bert-base-uncased)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2432304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full dialogue and produces contextual token representations. Bidirectional attention lets it capture relationships across all conversation turns — critical for understanding multi-speaker context.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993392"/>
            <a:ext cx="406908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993392"/>
            <a:ext cx="54864" cy="1389888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2084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GPT-2 Decoder  (gpt2)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752" y="2432304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summary one token at a time using auto-regressive language modelling. Fluent output is its strength. Cross-attention gates connect it to BERT's encoded context at each generation step.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841248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566160"/>
            <a:ext cx="54864" cy="1389888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6576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— Teacher Forcing vs Beam Search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400507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teacher forcing feeds correct previous tokens to the decoder at each step, accelerating convergence. At inference, beam search (num_beams = 4) explores multiple candidate sequences and picks the highest-scoring output — producing more coherent and accurate summaries than greedy decoding.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AE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834640" y="164592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34640" y="3794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 ·  LR Scheduling  ·  Gradient Clipping  ·  Early Stopping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18745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35331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35331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1874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77393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7739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8745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9456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1945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(max)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1874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61518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61518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(GPU) / 2 (CPU)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1353312"/>
            <a:ext cx="18745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496312" y="135331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Steps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135331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total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1773936"/>
            <a:ext cx="1874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496312" y="177393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17739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‖g‖ ≤ 1.0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23160" y="2194560"/>
            <a:ext cx="18745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2496312" y="219456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21945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23160" y="2615184"/>
            <a:ext cx="1874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496312" y="261518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261518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when GPU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9601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1353312"/>
            <a:ext cx="310896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1353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1353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with AMP autocast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1691640"/>
            <a:ext cx="310896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16916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56048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cross-entropy loss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2029968"/>
            <a:ext cx="310896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2029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56048" y="2029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backward pass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2368296"/>
            <a:ext cx="310896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23682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56048" y="2368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Unscale + clip gradients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0" y="2706624"/>
            <a:ext cx="310896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0" y="27066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56048" y="27066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&amp; scheduler step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0" y="3044952"/>
            <a:ext cx="310896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30449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56048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each epoch; checkpoint best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0" y="3383280"/>
            <a:ext cx="310896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0" y="33832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56048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if no improvement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3913632"/>
            <a:ext cx="822960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" y="3913632"/>
            <a:ext cx="54864" cy="1024128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39867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Monitoring Artifacts Produced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40080" y="429768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validation loss curves  ·  Learning rate progression per epoch  ·  Epoch timing charts  ·  training_history.csv saved for reproducibility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834640" y="164592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34640" y="3794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 ·  BLEU  ·  Error Taxonomy  ·  Qualitative Review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Error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898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389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 overlap between generated &amp; reference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470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847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overlap — captures phrasing similarity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11480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042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304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 — fluency proxy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614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ROUGE-Lsum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761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 at summary level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11480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218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precision with brevity penalty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Taxonomy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411480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399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Repetition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3990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n-grams in generated output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1828800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8562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Hallucination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18562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&lt;35% lexical overlap with reference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2286000"/>
            <a:ext cx="411480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313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Short Bias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23134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length &lt;50% of reference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2743200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770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Overgeneralization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27706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phrases with no specifics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3200400"/>
            <a:ext cx="411480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227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Context Loss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32278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ROUGE-Lsum &lt; 0.20 threshold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749040"/>
            <a:ext cx="54864" cy="118872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840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Both Metrics AND Qualitative Review?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4169664"/>
            <a:ext cx="7772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and BLEU quantify n-gram overlap but cannot determine if a summary is factually grounded or coherent to a human. Strong and weak examples are saved separately so reviewers can assess whether the model preserves real conversational meaning — essential before production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2834640" y="164592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Presentation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34640" y="3794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Manifest  ·  Reproducibility  ·  Stakeholder Output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Artifacts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46304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 Artifacts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eda_summary_statistics.csv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/ val / test representative subsets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representativeness_summary.csv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vocabulary &amp; speaker statistics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54864" cy="146304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Training Artifacts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417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training_history.csv (loss / LR / timing)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best_model checkpoint (saved on improvement)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encoder &amp; decoder tokenizer configs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78608"/>
            <a:ext cx="54864" cy="146304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 Artifacts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0358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generated_summaries.csv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evaluation_metrics_summary.csv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error_flags_by_example.csv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&amp; weak summary examples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578608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78608"/>
            <a:ext cx="54864" cy="146304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Figures (PNG, 150 dpi)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0358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Word-count distributions &amp; boxplots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Compression ratio &amp; correlation matrix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Training/validation loss curves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analysis bar chart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206240"/>
            <a:ext cx="54864" cy="713232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4206240"/>
            <a:ext cx="54864" cy="713232"/>
          </a:xfrm>
          <a:prstGeom prst="rect">
            <a:avLst/>
          </a:prstGeom>
          <a:solidFill>
            <a:srgbClr val="F6AE2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7939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artifact_manifest.json — single JSON file indexes every output path, making the proof of concept fully auditable and reproducible by any team member.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93776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summarization is technically feasible with BERT + GPT-2 in a structured seq2seq workflow.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493776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59105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and multi-method evaluation build confidence beyond simple random baselines.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8229600" cy="493776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15798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artifact logging ensures the PoC is reproducible, auditable, and explainable to stakeholders.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8229600" cy="493776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repetition, and context loss remain risks — human review is essential before production.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73075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BERT+GPT-2 for BART or T5 (purpose-built for summarization)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813048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3529584" y="373075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GPU-accelerated training with larger epoch budgets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813048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373075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the full 819-sample test set, not just 100 examples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61688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427939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factual-consistency metrics (e.g. QA-based or NLI-based scoring)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4361688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3529584" y="427939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human-centred evaluation rubric for production readiness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Dialogue Summarization Using Transformer Architectures</dc:title>
  <dc:subject>PptxGenJS Presentation</dc:subject>
  <dc:creator>PptxGenJS</dc:creator>
  <cp:lastModifiedBy>PptxGenJS</cp:lastModifiedBy>
  <cp:revision>1</cp:revision>
  <dcterms:created xsi:type="dcterms:W3CDTF">2026-05-17T04:31:21Z</dcterms:created>
  <dcterms:modified xsi:type="dcterms:W3CDTF">2026-05-17T04:31:21Z</dcterms:modified>
</cp:coreProperties>
</file>